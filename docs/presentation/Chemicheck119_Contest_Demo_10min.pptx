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e9b1f4c2de4509" /><Relationship Type="http://schemas.openxmlformats.org/officeDocument/2006/relationships/extended-properties" Target="/docProps/app.xml" Id="Radc1421f69104dc9" /><Relationship Type="http://schemas.openxmlformats.org/officeDocument/2006/relationships/officeDocument" Target="/ppt/presentation.xml" Id="Rb647dc9b8374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cfd79b1cb540b9"/>
  </p:sldMasterIdLst>
  <p:notesMasterIdLst>
    <p:notesMasterId xmlns:r="http://schemas.openxmlformats.org/officeDocument/2006/relationships" r:id="R5123b8660baf4f95"/>
  </p:notesMasterIdLst>
  <p:sldIdLst>
    <p:sldId xmlns:r="http://schemas.openxmlformats.org/officeDocument/2006/relationships" id="256" r:id="R231a058df00f47ce"/>
    <p:sldId xmlns:r="http://schemas.openxmlformats.org/officeDocument/2006/relationships" id="257" r:id="R2ce75e1968d140c4"/>
    <p:sldId xmlns:r="http://schemas.openxmlformats.org/officeDocument/2006/relationships" id="258" r:id="R6d32d2f50b4c4e2c"/>
    <p:sldId xmlns:r="http://schemas.openxmlformats.org/officeDocument/2006/relationships" id="259" r:id="R2b4eb563f6104095"/>
    <p:sldId xmlns:r="http://schemas.openxmlformats.org/officeDocument/2006/relationships" id="260" r:id="R6204ca8805424428"/>
    <p:sldId xmlns:r="http://schemas.openxmlformats.org/officeDocument/2006/relationships" id="261" r:id="Rd8a42c4cfe1a4102"/>
    <p:sldId xmlns:r="http://schemas.openxmlformats.org/officeDocument/2006/relationships" id="262" r:id="R0b0df5f852224b67"/>
    <p:sldId xmlns:r="http://schemas.openxmlformats.org/officeDocument/2006/relationships" id="263" r:id="Rbc8f097f5b814d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be9bbb45224ffa" /><Relationship Type="http://schemas.openxmlformats.org/officeDocument/2006/relationships/slideMaster" Target="/ppt/slideMasters/slideMaster1.xml" Id="R9fcfd79b1cb540b9" /><Relationship Type="http://schemas.openxmlformats.org/officeDocument/2006/relationships/notesMaster" Target="/ppt/notesMasters/notesMaster1.xml" Id="R5123b8660baf4f95" /><Relationship Type="http://schemas.openxmlformats.org/officeDocument/2006/relationships/presProps" Target="/ppt/presProps.xml" Id="R35947a6a22ee4555" /><Relationship Type="http://schemas.openxmlformats.org/officeDocument/2006/relationships/tableStyles" Target="/ppt/tableStyles.xml" Id="R448945a8b62542c9" /><Relationship Type="http://schemas.openxmlformats.org/officeDocument/2006/relationships/slide" Target="/ppt/slides/slide1.xml" Id="R231a058df00f47ce" /><Relationship Type="http://schemas.openxmlformats.org/officeDocument/2006/relationships/slide" Target="/ppt/slides/slide2.xml" Id="R2ce75e1968d140c4" /><Relationship Type="http://schemas.openxmlformats.org/officeDocument/2006/relationships/slide" Target="/ppt/slides/slide3.xml" Id="R6d32d2f50b4c4e2c" /><Relationship Type="http://schemas.openxmlformats.org/officeDocument/2006/relationships/slide" Target="/ppt/slides/slide4.xml" Id="R2b4eb563f6104095" /><Relationship Type="http://schemas.openxmlformats.org/officeDocument/2006/relationships/slide" Target="/ppt/slides/slide5.xml" Id="R6204ca8805424428" /><Relationship Type="http://schemas.openxmlformats.org/officeDocument/2006/relationships/slide" Target="/ppt/slides/slide6.xml" Id="Rd8a42c4cfe1a4102" /><Relationship Type="http://schemas.openxmlformats.org/officeDocument/2006/relationships/slide" Target="/ppt/slides/slide7.xml" Id="R0b0df5f852224b67" /><Relationship Type="http://schemas.openxmlformats.org/officeDocument/2006/relationships/slide" Target="/ppt/slides/slide8.xml" Id="Rbc8f097f5b814d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59c96f6ddb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24f7e0cd6144ea" /><Relationship Type="http://schemas.openxmlformats.org/officeDocument/2006/relationships/notesMaster" Target="/ppt/notesMasters/notesMaster1.xml" Id="R053f674c364d46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c32db764cb4507" /><Relationship Type="http://schemas.openxmlformats.org/officeDocument/2006/relationships/notesMaster" Target="/ppt/notesMasters/notesMaster1.xml" Id="Rb469bfaa749f43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baa4d7be144882" /><Relationship Type="http://schemas.openxmlformats.org/officeDocument/2006/relationships/notesMaster" Target="/ppt/notesMasters/notesMaster1.xml" Id="Rfcacfcb55c3e42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fe821731bd466a" /><Relationship Type="http://schemas.openxmlformats.org/officeDocument/2006/relationships/notesMaster" Target="/ppt/notesMasters/notesMaster1.xml" Id="Re8075c342887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527ecaf06e4f7a" /><Relationship Type="http://schemas.openxmlformats.org/officeDocument/2006/relationships/notesMaster" Target="/ppt/notesMasters/notesMaster1.xml" Id="Ra040e03300c940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9a7529d71a4add" /><Relationship Type="http://schemas.openxmlformats.org/officeDocument/2006/relationships/notesMaster" Target="/ppt/notesMasters/notesMaster1.xml" Id="R003717f6b32543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e4531c7a664db6" /><Relationship Type="http://schemas.openxmlformats.org/officeDocument/2006/relationships/notesMaster" Target="/ppt/notesMasters/notesMaster1.xml" Id="Rd8b42845d88d4d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284ddb11f24917" /><Relationship Type="http://schemas.openxmlformats.org/officeDocument/2006/relationships/notesMaster" Target="/ppt/notesMasters/notesMaster1.xml" Id="R74f0f990cfb4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정의부터 시작합니다. 케미체크119의 차별점은 더 많은 답을 만드는 것이 아니라, 확인되지 않은 정보로 위험을 판정하지 않는 데 있습니다. 약 20초.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팀 제공 서비스 정의 및 안전 원칙, 2026-08-01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출동 대원은 신고, 시설, 물질 근거와 충돌 정보를 따로 찾아야 합니다. 오른쪽 실제 시연 화면이 이 탐색을 한 흐름으로 묶습니다. 약 40초.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/Users/hywznn/Documents/fire-fe/docs/screenshots/02-agent-map-demo.jpg</a:t>
            </a:r>
          </a:p>
          <a:p xmlns:a="http://schemas.openxmlformats.org/drawingml/2006/main">
            <a:r>
              <a:t>- 프로젝트 팀 제공 현장 문제 정의, 2026-08-01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소방 플랫폼 사고 원천 1,868행에서 유효 물질명–CAS 표현 1,530건을 만들고, 별칭 등 추가 학습 표현 241개와 물성 749 CAS를 연결했습니다. 약 60초.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데이터 처리 결과, 2026-08-01</a:t>
            </a:r>
          </a:p>
          <a:p xmlns:a="http://schemas.openxmlformats.org/drawingml/2006/main">
            <a:r>
              <a:t>- /Users/hywznn/Documents/fire-fe/docs/CONTEST_DEMO_RUNBOOK.md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화면에서 세 단계를 시연합니다. 신고문만 입력했을 때와 사고 CAS 하나만 확인했을 때는 규칙이 잠깁니다. 두 CAS가 확인된 뒤에만 CAMEO 규칙을 실행합니다. 약 180초.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/Users/hywznn/Documents/fire-fe/docs/CONTEST_DEMO_RUNBOOK.md</a:t>
            </a:r>
          </a:p>
          <a:p xmlns:a="http://schemas.openxmlformats.org/drawingml/2006/main">
            <a:r>
              <a:t>- /Users/hywznn/Documents/fire-fe/src/features/incident/IncidentAnalysisCard.test.tsx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호출 구조는 FE에서 BE/BFF를 거쳐 AI로 이어집니다. 모델 API Key는 서버 Secret에만 있으며 FE 번들에는 들어가지 않습니다. 약 45초.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/Users/hywznn/Documents/fire-fe/docs/BE_INTEGRATION_REQUEST.md</a:t>
            </a:r>
          </a:p>
          <a:p xmlns:a="http://schemas.openxmlformats.org/drawingml/2006/main">
            <a:r>
              <a:t>- 사용자 제공 AI staging 연동 계약, 2026-08-01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83.76%를 AI 전체 정확도라고 말하지 않습니다. 이는 전국 공식 사고 외부 보류평가의 사고유형 Recall이며, 관찰 가능한 물질명 추출 Recall은 81.50%입니다. 약 60초.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잠금평가 및 외부 보류평가 결과, 2026-08-01</a:t>
            </a:r>
          </a:p>
          <a:p xmlns:a="http://schemas.openxmlformats.org/drawingml/2006/main">
            <a:r>
              <a:t>- /Users/hywznn/Documents/fire-fe/docs/CONTEST_DEMO_RUNBOOK.md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다른 기관의 전국 공식 사고 442건으로 파서의 외부 일반화를 감사했으며, 후보만으로 충돌 판정을 실행한 사례는 0건이었다고 정확히 설명합니다. 약 50초.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전국 공식 사고 외부 보류평가 및 자동 테스트 결과, 2026-08-01</a:t>
            </a:r>
          </a:p>
          <a:p xmlns:a="http://schemas.openxmlformats.org/drawingml/2006/main">
            <a:r>
              <a:t>- /Users/hywznn/Documents/fire-fe/docs/CONTEST_DEMO_RUNBOOK.md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케미체크119는 현장 지휘관을 대체하지 않습니다. 전국 MDT에서 후보 탐색과 확인 기록을 연결해 더 빠르고 감사 가능한 판단을 돕는 시스템입니다. 약 45초.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팀 제공 기대효과 및 확장 방향, 2026-08-01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9dc0e90ce4c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760ebdf0054b1c" /><Relationship Type="http://schemas.openxmlformats.org/officeDocument/2006/relationships/slideLayout" Target="/ppt/slideLayouts/slideLayout1.xml" Id="Rbc72361cbe6a4b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72361cbe6a4b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5841ee6854435" /><Relationship Type="http://schemas.openxmlformats.org/officeDocument/2006/relationships/notesSlide" Target="/ppt/notesSlides/notesSlide1.xml" Id="R1c7034fc7e9f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f181c1d3f4051" /><Relationship Type="http://schemas.openxmlformats.org/officeDocument/2006/relationships/image" Target="/ppt/media/image.jpeg" Id="Rad9978bfd422437f" /><Relationship Type="http://schemas.openxmlformats.org/officeDocument/2006/relationships/notesSlide" Target="/ppt/notesSlides/notesSlide2.xml" Id="Rfffdb3bf8c6e40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51b4ce4c146a7" /><Relationship Type="http://schemas.openxmlformats.org/officeDocument/2006/relationships/notesSlide" Target="/ppt/notesSlides/notesSlide3.xml" Id="Ra7d075ac6df243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5110f82ea4e25" /><Relationship Type="http://schemas.openxmlformats.org/officeDocument/2006/relationships/notesSlide" Target="/ppt/notesSlides/notesSlide4.xml" Id="R1fbf36d860be41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1ecd1ea314153" /><Relationship Type="http://schemas.openxmlformats.org/officeDocument/2006/relationships/notesSlide" Target="/ppt/notesSlides/notesSlide5.xml" Id="Rdb1fcdd35e904b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bcb5bfc374ed6" /><Relationship Type="http://schemas.openxmlformats.org/officeDocument/2006/relationships/chart" Target="/ppt/slides/charts/chart1.xml" Id="R58a09e9cbf94466b" /><Relationship Type="http://schemas.openxmlformats.org/officeDocument/2006/relationships/notesSlide" Target="/ppt/notesSlides/notesSlide6.xml" Id="R57a4b14e1ad148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b643dfb1147ff" /><Relationship Type="http://schemas.openxmlformats.org/officeDocument/2006/relationships/notesSlide" Target="/ppt/notesSlides/notesSlide7.xml" Id="R85aa3e97bf7241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9672626a24cff" /><Relationship Type="http://schemas.openxmlformats.org/officeDocument/2006/relationships/notesSlide" Target="/ppt/notesSlides/notesSlide8.xml" Id="R8535d4a3fbf0443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Resolver Top-1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개선 전</c:v>
              </c:pt>
              <c:pt idx="1">
                <c:v>개선 후</c:v>
              </c:pt>
            </c:strLit>
          </c:cat>
          <c:val>
            <c:numLit>
              <c:formatCode>General</c:formatCode>
              <c:ptCount val="2"/>
              <c:pt idx="0">
                <c:v>32.46</c:v>
              </c:pt>
              <c:pt idx="1">
                <c:v>67.06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6936112-C3B0-4EF1-ACC5-218CEE15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케미체크119
화학재난 대응지원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648CC55-14E6-4F25-996E-3CF787F1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후보는 찾되, 확인 전에는 위험을 판단하지 않습니다.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EBDF1AB-8D5D-40D1-BDA7-BB79B19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93232"/>
                </a:solidFill>
                <a:latin typeface="Helvetica Neue"/>
                <a:ea typeface="Helvetica Neue"/>
                <a:cs typeface="Helvetica Neue"/>
              </a:rPr>
              <a:t>2026 공모전 시연</a:t>
            </a:r>
          </a:p>
        </p:txBody>
      </p:sp>
    </p:spTree>
    <p:extLst>
      <p:ext uri="{BB962C8B-B14F-4D97-AF65-F5344CB8AC3E}">
        <p14:creationId xmlns:p14="http://schemas.microsoft.com/office/powerpoint/2010/main" val="12386678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8EF69B9-A840-42C1-A550-3127BFD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8D3112-EFD1-4FF2-ADD9-7D6B614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출동 중 정보는 흩어져 있습니다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C2CF2C08-5322-4A1E-8126-D6099A08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C21D941-C7EF-436A-82BC-887932EB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93232"/>
                </a:solidFill>
                <a:latin typeface="Helvetica Neue"/>
                <a:ea typeface="Helvetica Neue"/>
                <a:cs typeface="Helvetica Neue"/>
              </a:rPr>
              <a:t>출동 중 동시에 확인해야 할 것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신고문 속 물질 후보
사업장의 과거 취급 이력
두 물질의 충돌 규칙
공식 MSDS와 대응 근거
각각 찾던 정보를 하나의 확인 흐름으로 연결합니다.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978bfd422437f"/>
          <a:stretch xmlns:a="http://schemas.openxmlformats.org/drawingml/2006/main"/>
        </p:blipFill>
        <p:spPr>
          <a:xfrm xmlns:a="http://schemas.openxmlformats.org/drawingml/2006/main">
            <a:off x="6269069" y="1372496"/>
            <a:ext cx="5539740" cy="3649902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539854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C587220-F083-4853-8A2D-F0BC68B3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40BA438-22C7-42F3-A7F7-A5217D1F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C5FD883-C8CE-4E38-82D4-BC4B4732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D77E9C7-79D0-4A68-BE6D-ACFAA884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078F2AA-F3B3-4611-BD2D-2E10CAD2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소방 플랫폼 데이터를 현장 표현과 CAS 후보로 연결했습니다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3D6C62C-E977-4189-A61F-F649408E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소방 플랫폼
사고 원천(행)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F504A34-BDE6-47F7-9DE4-330E212A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추가 학습
표현(개)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9C1B0614-4796-448B-B136-91634763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유효 물질명–CAS
표현(건)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11CC66A7-FB49-4872-8948-287BED02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1,868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C469AB2-B71F-4C18-BFF0-C2B0D8BC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1,530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9AC661F-E76C-458D-8DC0-430AEE9B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C93232"/>
                </a:solidFill>
                <a:latin typeface="Helvetica Neue"/>
                <a:ea typeface="Helvetica Neue"/>
                <a:cs typeface="Helvetica Neue"/>
              </a:rPr>
              <a:t>+241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16BA513-1E41-44C2-9721-73529D5B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3232"/>
                </a:solidFill>
                <a:latin typeface="Helvetica Neue"/>
                <a:ea typeface="Helvetica Neue"/>
                <a:cs typeface="Helvetica Neue"/>
              </a:rPr>
              <a:t>플랫폼 활용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물성 749 CAS까지 연결해, 신고문과 현장 표현에서 확인 가능한 후보를 찾습니다. 후보는 자동 확정값이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813715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CFC601C-6647-4ED2-9B66-287B6113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92D1F8-CFA7-4E55-A4FE-6F1BFC3D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시연의 핵심은 0/2 → 1/2 → 2/2 안전 게이트입니다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B97F697-16D2-4C63-8FC6-9BAD3CC3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973FE88-3C9B-4EB6-A104-C35D1465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DD2A8EF-25A4-4EE0-98D1-3C25BD3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481E932E-AEBA-4345-BE7D-A6203E48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7D3B8C37-14F0-40F1-8C0E-3955CB79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신고문만 입력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물질 후보 표시
현장 확인 필요
충돌 규칙 미실행
위험등급 비공개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2CCC811-B464-4ACD-B389-64D3F1F3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37FE65FB-2033-41CC-BB24-8D98678B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사고물질 CAS 확인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시설물질 확인 대기
같은 사고 유지
충돌 규칙 미실행
위험등급 비공개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38AE0C19-4949-4CB2-97F4-F2CFAEC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1071CE56-CC7F-46E5-AE17-62F1354A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93232"/>
                </a:solidFill>
                <a:latin typeface="Helvetica Neue"/>
                <a:ea typeface="Helvetica Neue"/>
                <a:cs typeface="Helvetica Neue"/>
              </a:rPr>
              <a:t>두 CAS 모두 확인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CAMEO 규칙 실행
서수 위험·근거 표시
제한사항 함께 표시
최종 판단: 지휘관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01C9A59-01D5-4A92-9917-2D1ED70C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1/2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C33D29A-830C-4C60-A098-0BA338C9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0/2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BAA652BD-409E-4F9F-9B5F-E228742C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93232"/>
                </a:solidFill>
                <a:latin typeface="Helvetica Neue"/>
                <a:ea typeface="Helvetica Neue"/>
                <a:cs typeface="Helvetica Neue"/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20522619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BBFB41C-13F1-4941-A521-BAD3156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A4F42D8-0CA4-4ADC-8441-09841CA6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FE는 비밀을 갖지 않고, BE가 AI 호출과 안전 경계를 통제합니다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82513182-D85A-47E2-9763-9B6B562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
세션 쿠키 포함
후보·확인·근거 표시
API Key 없음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2813A1B8-E629-48C0-8C7F-1AA2730E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 / BFF
인증·권한 검증
API Key는 Secret
모델 timeout 15초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1CB3C02E-4D75-4194-B7EA-0927B90A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
통합 분석 응답
후보는 후보로 유지
확인 전 규칙 미실행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5095375-F232-46DA-8DD7-73268A6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B5683BA2-258F-4E84-8B54-9EC13ED7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F467091D-F459-4BD7-BAD4-7ECA4A30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9274971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9D2E8F3-19BA-4EEF-A711-790224ED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57CB838-E0AA-4929-B932-EB50063B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Resolver는 개선됐지만, 검증 수치는 기능별로 말해야 합니다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0A2A5056-C32F-4B83-A3F5-C7DF0538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D40C6B73-FEE9-4B20-8D56-D17E665C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83.76%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4273257-F0C8-4139-A3B4-17EF7959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사고유형
Recall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C27BF002-8326-408A-A639-2125E55B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E0ADAA8B-CE0B-45C0-A925-50CC9B1F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81.50%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C5615D9-66E9-4598-A06A-A2505965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관찰 가능한 물질명
추출 Recall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F0557130-D977-4429-8E41-0F270CAE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시간 분할 잠금평가 419건
Resolver Top-1: 32.46% → 67.06%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a09e9cbf94466b"/>
          </a:graphicData>
        </a:graphic>
      </p:graphicFrame>
    </p:spTree>
    <p:extLst>
      <p:ext uri="{BB962C8B-B14F-4D97-AF65-F5344CB8AC3E}">
        <p14:creationId xmlns:p14="http://schemas.microsoft.com/office/powerpoint/2010/main" val="17587939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4CADED3-3166-44FD-8427-74C4AC3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D996FB3-6D40-478C-8003-D32AB6CE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Evidence-Gated Agent는 모르는 것을 판정하지 않습니다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6742D2D-8FCF-4DDE-90AC-DFB6BEC6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전국 공식 사고 442건으로 외부 일반화를 감사했습니다.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7410AAE-BCE3-4F42-9C72-20F979B9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업체 이력 ≠ 현재 재고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C0AB4BDA-0052-42D3-A9E9-41454008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D1035A40-34AA-43F5-8737-46DCF1DB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3232"/>
                </a:solidFill>
                <a:latin typeface="Helvetica Neue"/>
                <a:ea typeface="Helvetica Neue"/>
                <a:cs typeface="Helvetica Neue"/>
              </a:rPr>
              <a:t>후보만으로 충돌 판정을 실행한 사례는 0건입니다.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자동 테스트 426개와 Cloud Run 서울 배포로 재현성을 확인했습니다.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876240B-5599-4C7B-A763-EE3F7BF5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위험등급 ≠ 확률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0A9EBC9-8906-440C-94B2-9731353B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6DD235B8-1A9D-4A8E-AA29-3A2CECC8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전국 모든 물질 판정 아님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4F1E5990-FDE8-4F4E-8C7E-AD293E6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B9DCB761-E675-4881-9CA8-2B99633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전문가 검증 완료 아님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85D14E0B-3DDD-4A49-8E6F-1651064E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2B1D7799-4AB6-4638-BDC6-EF5C3204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최종 판단은 현장 지휘관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42F8FDBE-0534-4EB8-8E4B-D1FDEAC8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9013549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F7D0C32-A133-4035-B27A-9C299A2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정보를 모으는 AI가 아니라
판단 경계를 지키는 시스템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46E230E-7A37-4439-9FF0-85FD07CE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전국 MDT 적용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대응기록 축적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현장 지휘관 지원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DBFF4BC-400B-41F8-8A7D-56FF1BB2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93232"/>
                </a:solidFill>
                <a:latin typeface="Helvetica Neue"/>
                <a:ea typeface="Helvetica Neue"/>
                <a:cs typeface="Helvetica Neue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36111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2026-08-01T14:32:06.2930000Z</dcterms:created>
  <dcterms:modified xsi:type="dcterms:W3CDTF">2026-08-01T14:32:06.2930000Z</dcterms:modified>
</coreProperties>
</file>